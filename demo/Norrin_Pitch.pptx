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7" r:id="rId11"/>
    <p:sldMasterId id="2147483669" r:id="rId12"/>
  </p:sldMasterIdLst>
  <p:sldIdLst>
    <p:sldId id="256" r:id="rId13"/>
    <p:sldId id="257" r:id="rId14"/>
    <p:sldId id="258" r:id="rId15"/>
    <p:sldId id="259" r:id="rId16"/>
    <p:sldId id="260" r:id="rId17"/>
    <p:sldId id="261" r:id="rId18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B1DFA6A-2367-4C5B-B26D-1328A5EA72D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84CCAD2-CEFC-4CC9-844C-C487CB4D821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CD8F1A02-5335-4E9B-A705-AC2A20CF065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C13A3274-C273-48B9-92C8-8AE25E49F19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8843C1E4-EE5D-40F1-A832-A628017DFA4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3D0F4351-174E-4553-AA19-D3273E89F64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DA36CBE3-1E31-423D-9DF7-CA2AF8EA4CE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F18B9B6A-BC47-4E9F-8F22-1F9B46A5E85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80120C76-71C6-45A8-8666-C2E432503F8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F1FE8C26-193C-49E4-947E-08769F746C2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AAC6A5B5-11B7-4BE1-A010-A35EF2495B7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59C77565-6017-42A1-AB77-553CA3D53D9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Relationship Id="rId3" Type="http://schemas.openxmlformats.org/officeDocument/2006/relationships/slideLayout" Target="../slideLayouts/slideLayout10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1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F1BAD91-3B52-41C1-9F40-F64583DB12A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6BD31CC-D582-4324-A0C0-5CBDD31A4FA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2F180D5-9F05-43D3-8DED-1194A2A7B2C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5454331-A219-42DC-8CCE-D76F520D1BD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231D128-952B-4FFB-A704-5EEF8BBDC2C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9BDA0AF-9709-4506-A931-2A1B31B02C8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A9BFD6A-E236-4608-AB08-CD9E8140E15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D298C5A-750D-4D2F-909C-6371C23592D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8F60EE8-6948-45B1-AAFE-3F6318D4B6F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  <p:sldLayoutId id="2147483666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C4FE752-3086-440B-AEB1-A1AE1314F78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8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3AE138D-9982-4E43-A9AB-6F70AE63962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0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3000" spc="-1" strike="noStrike">
                <a:solidFill>
                  <a:schemeClr val="dk1"/>
                </a:solidFill>
                <a:latin typeface="Calibri"/>
              </a:rPr>
              <a:t>What could go wrong?</a:t>
            </a:r>
            <a:endParaRPr b="0" lang="en-US" sz="30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902160" y="2057400"/>
            <a:ext cx="10070640" cy="3951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86160" y="34272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6600" spc="-1" strike="noStrike">
                <a:solidFill>
                  <a:schemeClr val="dk1"/>
                </a:solidFill>
                <a:latin typeface="Accanthis ADF Std"/>
              </a:rPr>
              <a:t>Confidentiality Broker</a:t>
            </a:r>
            <a:endParaRPr b="0" lang="en-US" sz="6600" spc="-1" strike="noStrike">
              <a:solidFill>
                <a:schemeClr val="dk1"/>
              </a:solidFill>
              <a:latin typeface="Accanthis ADF Std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57560" y="18288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800" spc="-1" strike="noStrike">
                <a:solidFill>
                  <a:schemeClr val="dk1"/>
                </a:solidFill>
                <a:latin typeface="Accanthis ADF Std"/>
              </a:rPr>
              <a:t>Introducing:</a:t>
            </a:r>
            <a:endParaRPr b="0" lang="en-US" sz="4800" spc="-1" strike="noStrike">
              <a:solidFill>
                <a:schemeClr val="dk1"/>
              </a:solidFill>
              <a:latin typeface="Accanthis ADF Std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b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" name="Rectangle 2"/>
          <p:cNvSpPr/>
          <p:nvPr/>
        </p:nvSpPr>
        <p:spPr>
          <a:xfrm>
            <a:off x="0" y="0"/>
            <a:ext cx="12191760" cy="428400"/>
          </a:xfrm>
          <a:prstGeom prst="rect">
            <a:avLst/>
          </a:prstGeom>
          <a:solidFill>
            <a:srgbClr val="c810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" name="TextBox 3"/>
          <p:cNvSpPr/>
          <p:nvPr/>
        </p:nvSpPr>
        <p:spPr>
          <a:xfrm>
            <a:off x="0" y="116640"/>
            <a:ext cx="1219176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80" spc="202" strike="noStrike">
                <a:solidFill>
                  <a:srgbClr val="ffffff"/>
                </a:solidFill>
                <a:latin typeface="PT Sans"/>
              </a:rPr>
              <a:t>RESTRICTED</a:t>
            </a:r>
            <a:endParaRPr b="0" lang="en-US" sz="12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Rectangle 4"/>
          <p:cNvSpPr/>
          <p:nvPr/>
        </p:nvSpPr>
        <p:spPr>
          <a:xfrm>
            <a:off x="0" y="6429240"/>
            <a:ext cx="12191760" cy="428400"/>
          </a:xfrm>
          <a:prstGeom prst="rect">
            <a:avLst/>
          </a:prstGeom>
          <a:solidFill>
            <a:srgbClr val="c810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" name="TextBox 5"/>
          <p:cNvSpPr/>
          <p:nvPr/>
        </p:nvSpPr>
        <p:spPr>
          <a:xfrm>
            <a:off x="0" y="6545880"/>
            <a:ext cx="1219176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80" spc="202" strike="noStrike">
                <a:solidFill>
                  <a:srgbClr val="ffffff"/>
                </a:solidFill>
                <a:latin typeface="PT Sans"/>
              </a:rPr>
              <a:t>RESTRICTED</a:t>
            </a:r>
            <a:endParaRPr b="0" lang="en-US" sz="12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Box 6"/>
          <p:cNvSpPr/>
          <p:nvPr/>
        </p:nvSpPr>
        <p:spPr>
          <a:xfrm>
            <a:off x="609480" y="857160"/>
            <a:ext cx="1097244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30" spc="284" strike="noStrike">
                <a:solidFill>
                  <a:srgbClr val="8c8c8c"/>
                </a:solidFill>
                <a:latin typeface="PT Mono"/>
              </a:rPr>
              <a:t>Problem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7"/>
          <p:cNvSpPr/>
          <p:nvPr/>
        </p:nvSpPr>
        <p:spPr>
          <a:xfrm>
            <a:off x="609480" y="1143000"/>
            <a:ext cx="10972440" cy="69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4350" spc="-1" strike="noStrike">
                <a:solidFill>
                  <a:srgbClr val="0e0e0e"/>
                </a:solidFill>
                <a:latin typeface="PT Serif"/>
              </a:rPr>
              <a:t>The data goes wherever the model is</a:t>
            </a:r>
            <a:endParaRPr b="0" lang="en-US" sz="4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8"/>
          <p:cNvSpPr/>
          <p:nvPr/>
        </p:nvSpPr>
        <p:spPr>
          <a:xfrm>
            <a:off x="609480" y="2152800"/>
            <a:ext cx="30477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50" spc="214" strike="noStrike">
                <a:solidFill>
                  <a:srgbClr val="8c8c8c"/>
                </a:solidFill>
                <a:latin typeface="PT Mono"/>
              </a:rPr>
              <a:t>OPERATOR'S ENVIRONMENT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Box 9"/>
          <p:cNvSpPr/>
          <p:nvPr/>
        </p:nvSpPr>
        <p:spPr>
          <a:xfrm>
            <a:off x="5219640" y="2152800"/>
            <a:ext cx="30477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50" spc="214" strike="noStrike">
                <a:solidFill>
                  <a:srgbClr val="8c8c8c"/>
                </a:solidFill>
                <a:latin typeface="PT Mono"/>
              </a:rPr>
              <a:t>EU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8458200" y="2152800"/>
            <a:ext cx="30477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50" spc="214" strike="noStrike">
                <a:solidFill>
                  <a:srgbClr val="8c8c8c"/>
                </a:solidFill>
                <a:latin typeface="PT Mono"/>
              </a:rPr>
              <a:t>OUTSIDE THE EU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Rectangle 11"/>
          <p:cNvSpPr/>
          <p:nvPr/>
        </p:nvSpPr>
        <p:spPr>
          <a:xfrm>
            <a:off x="609480" y="2438280"/>
            <a:ext cx="10972440" cy="9000"/>
          </a:xfrm>
          <a:prstGeom prst="rect">
            <a:avLst/>
          </a:prstGeom>
          <a:solidFill>
            <a:srgbClr val="d8d8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" name="Rectangle 12"/>
          <p:cNvSpPr/>
          <p:nvPr/>
        </p:nvSpPr>
        <p:spPr>
          <a:xfrm>
            <a:off x="4991040" y="2438280"/>
            <a:ext cx="9000" cy="2895120"/>
          </a:xfrm>
          <a:prstGeom prst="rect">
            <a:avLst/>
          </a:prstGeom>
          <a:solidFill>
            <a:srgbClr val="d8d8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" name="Rectangle 13"/>
          <p:cNvSpPr/>
          <p:nvPr/>
        </p:nvSpPr>
        <p:spPr>
          <a:xfrm>
            <a:off x="8229600" y="2438280"/>
            <a:ext cx="9000" cy="2895120"/>
          </a:xfrm>
          <a:prstGeom prst="rect">
            <a:avLst/>
          </a:prstGeom>
          <a:solidFill>
            <a:srgbClr val="d8d8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TextBox 14"/>
          <p:cNvSpPr/>
          <p:nvPr/>
        </p:nvSpPr>
        <p:spPr>
          <a:xfrm>
            <a:off x="609480" y="2666880"/>
            <a:ext cx="41907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50" spc="-1" strike="noStrike">
                <a:solidFill>
                  <a:srgbClr val="5a5a5a"/>
                </a:solidFill>
                <a:latin typeface="PT Mono"/>
              </a:rPr>
              <a:t>&gt; what is wrong with unit_06?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ectangle 15"/>
          <p:cNvSpPr/>
          <p:nvPr/>
        </p:nvSpPr>
        <p:spPr>
          <a:xfrm>
            <a:off x="685800" y="3514680"/>
            <a:ext cx="10820160" cy="56880"/>
          </a:xfrm>
          <a:prstGeom prst="rect">
            <a:avLst/>
          </a:prstGeom>
          <a:solidFill>
            <a:srgbClr val="c810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2240" bIns="12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" name="Oval 16"/>
          <p:cNvSpPr/>
          <p:nvPr/>
        </p:nvSpPr>
        <p:spPr>
          <a:xfrm>
            <a:off x="619200" y="3476520"/>
            <a:ext cx="132840" cy="132840"/>
          </a:xfrm>
          <a:prstGeom prst="ellipse">
            <a:avLst/>
          </a:prstGeom>
          <a:solidFill>
            <a:srgbClr val="c810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Oval 17"/>
          <p:cNvSpPr/>
          <p:nvPr/>
        </p:nvSpPr>
        <p:spPr>
          <a:xfrm>
            <a:off x="11439360" y="3476520"/>
            <a:ext cx="132840" cy="132840"/>
          </a:xfrm>
          <a:prstGeom prst="ellipse">
            <a:avLst/>
          </a:prstGeom>
          <a:solidFill>
            <a:srgbClr val="c810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TextBox 18"/>
          <p:cNvSpPr/>
          <p:nvPr/>
        </p:nvSpPr>
        <p:spPr>
          <a:xfrm>
            <a:off x="609480" y="3753000"/>
            <a:ext cx="41907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50" spc="-1" strike="noStrike">
                <a:solidFill>
                  <a:srgbClr val="0e0e0e"/>
                </a:solidFill>
                <a:latin typeface="PT Mono"/>
              </a:rPr>
              <a:t>sensordata/unit_06.csv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19"/>
          <p:cNvSpPr/>
          <p:nvPr/>
        </p:nvSpPr>
        <p:spPr>
          <a:xfrm>
            <a:off x="609480" y="4095720"/>
            <a:ext cx="4190760" cy="57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40000"/>
              </a:lnSpc>
            </a:pPr>
            <a:r>
              <a:rPr b="0" lang="en-US" sz="1350" spc="-1" strike="noStrike">
                <a:solidFill>
                  <a:srgbClr val="5a5a5a"/>
                </a:solidFill>
                <a:latin typeface="PT Mono"/>
              </a:rPr>
              <a:t>810 samples x 52 tags, raw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b="0" lang="en-US" sz="1350" spc="-1" strike="noStrike">
                <a:solidFill>
                  <a:srgbClr val="5a5a5a"/>
                </a:solidFill>
                <a:latin typeface="PT Mono"/>
              </a:rPr>
              <a:t>316 KB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20"/>
          <p:cNvSpPr/>
          <p:nvPr/>
        </p:nvSpPr>
        <p:spPr>
          <a:xfrm>
            <a:off x="8458200" y="3753000"/>
            <a:ext cx="31237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50" spc="-1" strike="noStrike">
                <a:solidFill>
                  <a:srgbClr val="0e0e0e"/>
                </a:solidFill>
                <a:latin typeface="PT Mono"/>
              </a:rPr>
              <a:t>google </a:t>
            </a:r>
            <a:r>
              <a:rPr b="0" lang="en-US" sz="1650" spc="-1" strike="noStrike">
                <a:solidFill>
                  <a:srgbClr val="00703c"/>
                </a:solidFill>
                <a:latin typeface="PT Mono"/>
              </a:rPr>
              <a:t>[public]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Box 21"/>
          <p:cNvSpPr/>
          <p:nvPr/>
        </p:nvSpPr>
        <p:spPr>
          <a:xfrm>
            <a:off x="8458200" y="4095720"/>
            <a:ext cx="312372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40000"/>
              </a:lnSpc>
            </a:pPr>
            <a:r>
              <a:rPr b="0" lang="en-US" sz="1430" spc="-1" strike="noStrike">
                <a:solidFill>
                  <a:srgbClr val="5a5a5a"/>
                </a:solidFill>
                <a:latin typeface="PT Serif"/>
              </a:rPr>
              <a:t>No record of what left, to which model, or why.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Rectangle 22"/>
          <p:cNvSpPr/>
          <p:nvPr/>
        </p:nvSpPr>
        <p:spPr>
          <a:xfrm>
            <a:off x="609480" y="5524560"/>
            <a:ext cx="10972440" cy="9000"/>
          </a:xfrm>
          <a:prstGeom prst="rect">
            <a:avLst/>
          </a:prstGeom>
          <a:solidFill>
            <a:srgbClr val="d8d8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" name="TextBox 23"/>
          <p:cNvSpPr/>
          <p:nvPr/>
        </p:nvSpPr>
        <p:spPr>
          <a:xfrm>
            <a:off x="609480" y="5867280"/>
            <a:ext cx="1097244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b="0" lang="en-US" sz="1729" spc="-1" strike="noStrike">
                <a:solidFill>
                  <a:srgbClr val="0e0e0e"/>
                </a:solidFill>
                <a:latin typeface="PT Serif"/>
              </a:rPr>
              <a:t>Nothing on this path asked whether it should happen, and nothing wrote down that it did.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b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" name="Rectangle 2"/>
          <p:cNvSpPr/>
          <p:nvPr/>
        </p:nvSpPr>
        <p:spPr>
          <a:xfrm>
            <a:off x="0" y="0"/>
            <a:ext cx="12191760" cy="428400"/>
          </a:xfrm>
          <a:prstGeom prst="rect">
            <a:avLst/>
          </a:prstGeom>
          <a:solidFill>
            <a:srgbClr val="0070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" name="TextBox 3"/>
          <p:cNvSpPr/>
          <p:nvPr/>
        </p:nvSpPr>
        <p:spPr>
          <a:xfrm>
            <a:off x="0" y="116640"/>
            <a:ext cx="1219176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80" spc="202" strike="noStrike">
                <a:solidFill>
                  <a:srgbClr val="ffffff"/>
                </a:solidFill>
                <a:latin typeface="PT Sans"/>
              </a:rPr>
              <a:t>PUBLIC</a:t>
            </a:r>
            <a:endParaRPr b="0" lang="en-US" sz="12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ectangle 4"/>
          <p:cNvSpPr/>
          <p:nvPr/>
        </p:nvSpPr>
        <p:spPr>
          <a:xfrm>
            <a:off x="0" y="6429240"/>
            <a:ext cx="12191760" cy="428400"/>
          </a:xfrm>
          <a:prstGeom prst="rect">
            <a:avLst/>
          </a:prstGeom>
          <a:solidFill>
            <a:srgbClr val="0070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5"/>
          <p:cNvSpPr/>
          <p:nvPr/>
        </p:nvSpPr>
        <p:spPr>
          <a:xfrm>
            <a:off x="0" y="6545880"/>
            <a:ext cx="1219176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80" spc="202" strike="noStrike">
                <a:solidFill>
                  <a:srgbClr val="ffffff"/>
                </a:solidFill>
                <a:latin typeface="PT Sans"/>
              </a:rPr>
              <a:t>PUBLIC</a:t>
            </a:r>
            <a:endParaRPr b="0" lang="en-US" sz="12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6"/>
          <p:cNvSpPr/>
          <p:nvPr/>
        </p:nvSpPr>
        <p:spPr>
          <a:xfrm>
            <a:off x="609480" y="857160"/>
            <a:ext cx="1097244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30" spc="284" strike="noStrike">
                <a:solidFill>
                  <a:srgbClr val="8c8c8c"/>
                </a:solidFill>
                <a:latin typeface="PT Mono"/>
              </a:rPr>
              <a:t>Solution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7"/>
          <p:cNvSpPr/>
          <p:nvPr/>
        </p:nvSpPr>
        <p:spPr>
          <a:xfrm>
            <a:off x="609480" y="1143000"/>
            <a:ext cx="10972440" cy="69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4350" spc="-1" strike="noStrike">
                <a:solidFill>
                  <a:srgbClr val="0e0e0e"/>
                </a:solidFill>
                <a:latin typeface="PT Serif"/>
              </a:rPr>
              <a:t>The label decides how far anything goes</a:t>
            </a:r>
            <a:endParaRPr b="0" lang="en-US" sz="4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8"/>
          <p:cNvSpPr/>
          <p:nvPr/>
        </p:nvSpPr>
        <p:spPr>
          <a:xfrm>
            <a:off x="609480" y="2152800"/>
            <a:ext cx="30477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50" spc="214" strike="noStrike">
                <a:solidFill>
                  <a:srgbClr val="8c8c8c"/>
                </a:solidFill>
                <a:latin typeface="PT Mono"/>
              </a:rPr>
              <a:t>OPERATOR'S ENVIRONMENT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Box 9"/>
          <p:cNvSpPr/>
          <p:nvPr/>
        </p:nvSpPr>
        <p:spPr>
          <a:xfrm>
            <a:off x="5219640" y="2152800"/>
            <a:ext cx="30477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50" spc="214" strike="noStrike">
                <a:solidFill>
                  <a:srgbClr val="8c8c8c"/>
                </a:solidFill>
                <a:latin typeface="PT Mono"/>
              </a:rPr>
              <a:t>EU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10"/>
          <p:cNvSpPr/>
          <p:nvPr/>
        </p:nvSpPr>
        <p:spPr>
          <a:xfrm>
            <a:off x="8458200" y="2152800"/>
            <a:ext cx="30477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50" spc="214" strike="noStrike">
                <a:solidFill>
                  <a:srgbClr val="8c8c8c"/>
                </a:solidFill>
                <a:latin typeface="PT Mono"/>
              </a:rPr>
              <a:t>OUTSIDE THE EU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Rectangle 11"/>
          <p:cNvSpPr/>
          <p:nvPr/>
        </p:nvSpPr>
        <p:spPr>
          <a:xfrm>
            <a:off x="609480" y="2438280"/>
            <a:ext cx="10972440" cy="9000"/>
          </a:xfrm>
          <a:prstGeom prst="rect">
            <a:avLst/>
          </a:prstGeom>
          <a:solidFill>
            <a:srgbClr val="d8d8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" name="Rectangle 12"/>
          <p:cNvSpPr/>
          <p:nvPr/>
        </p:nvSpPr>
        <p:spPr>
          <a:xfrm>
            <a:off x="4991040" y="2438280"/>
            <a:ext cx="9000" cy="2895120"/>
          </a:xfrm>
          <a:prstGeom prst="rect">
            <a:avLst/>
          </a:prstGeom>
          <a:solidFill>
            <a:srgbClr val="d8d8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Rectangle 13"/>
          <p:cNvSpPr/>
          <p:nvPr/>
        </p:nvSpPr>
        <p:spPr>
          <a:xfrm>
            <a:off x="8229600" y="2438280"/>
            <a:ext cx="9000" cy="2895120"/>
          </a:xfrm>
          <a:prstGeom prst="rect">
            <a:avLst/>
          </a:prstGeom>
          <a:solidFill>
            <a:srgbClr val="d8d8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" name="TextBox 14"/>
          <p:cNvSpPr/>
          <p:nvPr/>
        </p:nvSpPr>
        <p:spPr>
          <a:xfrm>
            <a:off x="609480" y="2666880"/>
            <a:ext cx="41907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50" spc="-1" strike="noStrike">
                <a:solidFill>
                  <a:srgbClr val="5a5a5a"/>
                </a:solidFill>
                <a:latin typeface="PT Mono"/>
              </a:rPr>
              <a:t>&gt; what is wrong with unit_06?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ectangle 15"/>
          <p:cNvSpPr/>
          <p:nvPr/>
        </p:nvSpPr>
        <p:spPr>
          <a:xfrm>
            <a:off x="685800" y="3209760"/>
            <a:ext cx="2171520" cy="56880"/>
          </a:xfrm>
          <a:prstGeom prst="rect">
            <a:avLst/>
          </a:prstGeom>
          <a:solidFill>
            <a:srgbClr val="c810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2240" bIns="12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Oval 16"/>
          <p:cNvSpPr/>
          <p:nvPr/>
        </p:nvSpPr>
        <p:spPr>
          <a:xfrm>
            <a:off x="619200" y="3171960"/>
            <a:ext cx="132840" cy="132840"/>
          </a:xfrm>
          <a:prstGeom prst="ellipse">
            <a:avLst/>
          </a:prstGeom>
          <a:solidFill>
            <a:srgbClr val="c810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Oval 17"/>
          <p:cNvSpPr/>
          <p:nvPr/>
        </p:nvSpPr>
        <p:spPr>
          <a:xfrm>
            <a:off x="2790720" y="3171960"/>
            <a:ext cx="132840" cy="132840"/>
          </a:xfrm>
          <a:prstGeom prst="ellipse">
            <a:avLst/>
          </a:prstGeom>
          <a:solidFill>
            <a:srgbClr val="c810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" name="TextBox 18"/>
          <p:cNvSpPr/>
          <p:nvPr/>
        </p:nvSpPr>
        <p:spPr>
          <a:xfrm>
            <a:off x="609480" y="3448080"/>
            <a:ext cx="434304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50" spc="-1" strike="noStrike">
                <a:solidFill>
                  <a:srgbClr val="0e0e0e"/>
                </a:solidFill>
                <a:latin typeface="PT Mono"/>
              </a:rPr>
              <a:t>restricted-plant/</a:t>
            </a:r>
            <a:r>
              <a:rPr b="1" lang="en-US" sz="1650" spc="-1" strike="noStrike">
                <a:solidFill>
                  <a:srgbClr val="c8102e"/>
                </a:solidFill>
                <a:latin typeface="PT Mono"/>
              </a:rPr>
              <a:t>  restricted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Box 19"/>
          <p:cNvSpPr/>
          <p:nvPr/>
        </p:nvSpPr>
        <p:spPr>
          <a:xfrm>
            <a:off x="609480" y="3790800"/>
            <a:ext cx="434304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50" spc="-1" strike="noStrike">
                <a:solidFill>
                  <a:srgbClr val="0e0e0e"/>
                </a:solidFill>
                <a:latin typeface="PT Mono"/>
              </a:rPr>
              <a:t>lemonade, ollama</a:t>
            </a:r>
            <a:r>
              <a:rPr b="0" lang="en-US" sz="1430" spc="-1" strike="noStrike">
                <a:solidFill>
                  <a:srgbClr val="5a5a5a"/>
                </a:solidFill>
                <a:latin typeface="PT Serif"/>
              </a:rPr>
              <a:t>   the raw rows stay here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Rectangle 20"/>
          <p:cNvSpPr/>
          <p:nvPr/>
        </p:nvSpPr>
        <p:spPr>
          <a:xfrm>
            <a:off x="685800" y="4352760"/>
            <a:ext cx="5981400" cy="56880"/>
          </a:xfrm>
          <a:prstGeom prst="rect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2240" bIns="12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Oval 21"/>
          <p:cNvSpPr/>
          <p:nvPr/>
        </p:nvSpPr>
        <p:spPr>
          <a:xfrm>
            <a:off x="619200" y="4314960"/>
            <a:ext cx="132840" cy="132840"/>
          </a:xfrm>
          <a:prstGeom prst="ellipse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" name="Oval 22"/>
          <p:cNvSpPr/>
          <p:nvPr/>
        </p:nvSpPr>
        <p:spPr>
          <a:xfrm>
            <a:off x="6600960" y="4314960"/>
            <a:ext cx="132840" cy="132840"/>
          </a:xfrm>
          <a:prstGeom prst="ellipse">
            <a:avLst/>
          </a:prstGeom>
          <a:solidFill>
            <a:srgbClr val="0b3d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" name="TextBox 23"/>
          <p:cNvSpPr/>
          <p:nvPr/>
        </p:nvSpPr>
        <p:spPr>
          <a:xfrm>
            <a:off x="609480" y="4591080"/>
            <a:ext cx="434304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50" spc="-1" strike="noStrike">
                <a:solidFill>
                  <a:srgbClr val="0e0e0e"/>
                </a:solidFill>
                <a:latin typeface="PT Mono"/>
              </a:rPr>
              <a:t>confidential-plant/reports/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Box 24"/>
          <p:cNvSpPr/>
          <p:nvPr/>
        </p:nvSpPr>
        <p:spPr>
          <a:xfrm>
            <a:off x="609480" y="4933800"/>
            <a:ext cx="434304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0b3d91"/>
                </a:solidFill>
                <a:latin typeface="PT Mono"/>
              </a:rPr>
              <a:t>confidential</a:t>
            </a:r>
            <a:r>
              <a:rPr b="0" lang="en-US" sz="1430" spc="-1" strike="noStrike">
                <a:solidFill>
                  <a:srgbClr val="5a5a5a"/>
                </a:solidFill>
                <a:latin typeface="PT Serif"/>
              </a:rPr>
              <a:t>   8.6 KB of statistics, no rows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Box 25"/>
          <p:cNvSpPr/>
          <p:nvPr/>
        </p:nvSpPr>
        <p:spPr>
          <a:xfrm>
            <a:off x="5219640" y="4591080"/>
            <a:ext cx="30477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50" spc="-1" strike="noStrike">
                <a:solidFill>
                  <a:srgbClr val="0e0e0e"/>
                </a:solidFill>
                <a:latin typeface="PT Mono"/>
              </a:rPr>
              <a:t>verda </a:t>
            </a:r>
            <a:r>
              <a:rPr b="0" lang="en-US" sz="1650" spc="-1" strike="noStrike">
                <a:solidFill>
                  <a:srgbClr val="0b3d91"/>
                </a:solidFill>
                <a:latin typeface="PT Mono"/>
              </a:rPr>
              <a:t>[confidential] </a:t>
            </a:r>
            <a:r>
              <a:rPr b="0" lang="en-US" sz="1650" spc="-1" strike="noStrike">
                <a:solidFill>
                  <a:srgbClr val="00703c"/>
                </a:solidFill>
                <a:latin typeface="PT Mono"/>
              </a:rPr>
              <a:t>✓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26"/>
          <p:cNvSpPr/>
          <p:nvPr/>
        </p:nvSpPr>
        <p:spPr>
          <a:xfrm>
            <a:off x="8458200" y="3200400"/>
            <a:ext cx="312372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0e0e0e"/>
                </a:solidFill>
                <a:latin typeface="PT Mono"/>
              </a:rPr>
              <a:t>google </a:t>
            </a:r>
            <a:r>
              <a:rPr b="0" lang="en-US" sz="1350" spc="-1" strike="noStrike">
                <a:solidFill>
                  <a:srgbClr val="00703c"/>
                </a:solidFill>
                <a:latin typeface="PT Mono"/>
              </a:rPr>
              <a:t>[public]</a:t>
            </a:r>
            <a:r>
              <a:rPr b="0" lang="en-US" sz="1350" spc="-1" strike="noStrike">
                <a:solidFill>
                  <a:srgbClr val="c8102e"/>
                </a:solidFill>
                <a:latin typeface="PT Mono"/>
              </a:rPr>
              <a:t> ✗ no access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27"/>
          <p:cNvSpPr/>
          <p:nvPr/>
        </p:nvSpPr>
        <p:spPr>
          <a:xfrm>
            <a:off x="8458200" y="3524400"/>
            <a:ext cx="312372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40000"/>
              </a:lnSpc>
            </a:pPr>
            <a:r>
              <a:rPr b="0" lang="en-US" sz="1430" spc="-1" strike="noStrike">
                <a:solidFill>
                  <a:srgbClr val="5a5a5a"/>
                </a:solidFill>
                <a:latin typeface="PT Serif"/>
              </a:rPr>
              <a:t>Not the rows, not the statistics, not a file listing.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Rectangle 28"/>
          <p:cNvSpPr/>
          <p:nvPr/>
        </p:nvSpPr>
        <p:spPr>
          <a:xfrm>
            <a:off x="609480" y="5524560"/>
            <a:ext cx="10972440" cy="9000"/>
          </a:xfrm>
          <a:prstGeom prst="rect">
            <a:avLst/>
          </a:prstGeom>
          <a:solidFill>
            <a:srgbClr val="d8d8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TextBox 29"/>
          <p:cNvSpPr/>
          <p:nvPr/>
        </p:nvSpPr>
        <p:spPr>
          <a:xfrm>
            <a:off x="609480" y="5867280"/>
            <a:ext cx="1097244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b="0" lang="en-US" sz="1729" spc="-1" strike="noStrike">
                <a:solidFill>
                  <a:srgbClr val="0e0e0e"/>
                </a:solidFill>
                <a:latin typeface="PT Serif"/>
              </a:rPr>
              <a:t>Raw rows never leave the machine. Derived statistics stop in the EU. The question still gets answered.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b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" name="Rectangle 2"/>
          <p:cNvSpPr/>
          <p:nvPr/>
        </p:nvSpPr>
        <p:spPr>
          <a:xfrm>
            <a:off x="0" y="0"/>
            <a:ext cx="12191760" cy="428400"/>
          </a:xfrm>
          <a:prstGeom prst="rect">
            <a:avLst/>
          </a:prstGeom>
          <a:solidFill>
            <a:srgbClr val="0070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" name="TextBox 3"/>
          <p:cNvSpPr/>
          <p:nvPr/>
        </p:nvSpPr>
        <p:spPr>
          <a:xfrm>
            <a:off x="0" y="116640"/>
            <a:ext cx="1219176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80" spc="202" strike="noStrike">
                <a:solidFill>
                  <a:srgbClr val="ffffff"/>
                </a:solidFill>
                <a:latin typeface="PT Sans"/>
              </a:rPr>
              <a:t>PUBLIC</a:t>
            </a:r>
            <a:endParaRPr b="0" lang="en-US" sz="12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ectangle 4"/>
          <p:cNvSpPr/>
          <p:nvPr/>
        </p:nvSpPr>
        <p:spPr>
          <a:xfrm>
            <a:off x="0" y="6429240"/>
            <a:ext cx="12191760" cy="428400"/>
          </a:xfrm>
          <a:prstGeom prst="rect">
            <a:avLst/>
          </a:prstGeom>
          <a:solidFill>
            <a:srgbClr val="0070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" name="TextBox 5"/>
          <p:cNvSpPr/>
          <p:nvPr/>
        </p:nvSpPr>
        <p:spPr>
          <a:xfrm>
            <a:off x="0" y="6545880"/>
            <a:ext cx="1219176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80" spc="202" strike="noStrike">
                <a:solidFill>
                  <a:srgbClr val="ffffff"/>
                </a:solidFill>
                <a:latin typeface="PT Sans"/>
              </a:rPr>
              <a:t>PUBLIC</a:t>
            </a:r>
            <a:endParaRPr b="0" lang="en-US" sz="12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Box 6"/>
          <p:cNvSpPr/>
          <p:nvPr/>
        </p:nvSpPr>
        <p:spPr>
          <a:xfrm>
            <a:off x="609480" y="857160"/>
            <a:ext cx="1097244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30" spc="284" strike="noStrike">
                <a:solidFill>
                  <a:srgbClr val="8c8c8c"/>
                </a:solidFill>
                <a:latin typeface="PT Mono"/>
              </a:rPr>
              <a:t>THE RULE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7"/>
          <p:cNvSpPr/>
          <p:nvPr/>
        </p:nvSpPr>
        <p:spPr>
          <a:xfrm>
            <a:off x="609480" y="1143000"/>
            <a:ext cx="10972440" cy="69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4350" spc="-1" strike="noStrike">
                <a:solidFill>
                  <a:srgbClr val="0e0e0e"/>
                </a:solidFill>
                <a:latin typeface="PT Serif"/>
              </a:rPr>
              <a:t>The folder decides which model sees it</a:t>
            </a:r>
            <a:endParaRPr b="0" lang="en-US" sz="4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8"/>
          <p:cNvSpPr/>
          <p:nvPr/>
        </p:nvSpPr>
        <p:spPr>
          <a:xfrm>
            <a:off x="609480" y="2152800"/>
            <a:ext cx="10972440" cy="37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b="0" lang="en-US" sz="1800" spc="-1" strike="noStrike">
                <a:solidFill>
                  <a:srgbClr val="5a5a5a"/>
                </a:solidFill>
                <a:latin typeface="PT Serif"/>
              </a:rPr>
              <a:t>The broker compares the folder's label with the provider's clearance, on every tool call.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9"/>
          <p:cNvSpPr/>
          <p:nvPr/>
        </p:nvSpPr>
        <p:spPr>
          <a:xfrm>
            <a:off x="609480" y="3114720"/>
            <a:ext cx="628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50" spc="-1" strike="noStrike">
                <a:solidFill>
                  <a:srgbClr val="0e0e0e"/>
                </a:solidFill>
                <a:latin typeface="PT Mono"/>
              </a:rPr>
              <a:t>demo/restricted-plant/</a:t>
            </a:r>
            <a:r>
              <a:rPr b="1" lang="en-US" sz="1650" spc="-1" strike="noStrike">
                <a:solidFill>
                  <a:srgbClr val="c8102e"/>
                </a:solidFill>
                <a:latin typeface="PT Mono"/>
              </a:rPr>
              <a:t>  restricted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Box 10"/>
          <p:cNvSpPr/>
          <p:nvPr/>
        </p:nvSpPr>
        <p:spPr>
          <a:xfrm>
            <a:off x="609480" y="3438360"/>
            <a:ext cx="628632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5a5a5a"/>
                </a:solidFill>
                <a:latin typeface="PT Serif"/>
              </a:rPr>
              <a:t>the raw rows: 18 recordings, 52 tags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Box 11"/>
          <p:cNvSpPr/>
          <p:nvPr/>
        </p:nvSpPr>
        <p:spPr>
          <a:xfrm>
            <a:off x="7734240" y="3114720"/>
            <a:ext cx="384768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50" spc="-1" strike="noStrike">
                <a:solidFill>
                  <a:srgbClr val="0e0e0e"/>
                </a:solidFill>
                <a:latin typeface="PT Mono"/>
              </a:rPr>
              <a:t>lemonade, ollama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Box 12"/>
          <p:cNvSpPr/>
          <p:nvPr/>
        </p:nvSpPr>
        <p:spPr>
          <a:xfrm>
            <a:off x="7734240" y="3400560"/>
            <a:ext cx="384768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30" spc="-1" strike="noStrike">
                <a:solidFill>
                  <a:srgbClr val="5a5a5a"/>
                </a:solidFill>
                <a:latin typeface="PT Serif"/>
              </a:rPr>
              <a:t>no cloud model, not even the EU one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Rectangle 13"/>
          <p:cNvSpPr/>
          <p:nvPr/>
        </p:nvSpPr>
        <p:spPr>
          <a:xfrm>
            <a:off x="609480" y="3867120"/>
            <a:ext cx="10972440" cy="9000"/>
          </a:xfrm>
          <a:prstGeom prst="rect">
            <a:avLst/>
          </a:prstGeom>
          <a:solidFill>
            <a:srgbClr val="d8d8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" name="TextBox 14"/>
          <p:cNvSpPr/>
          <p:nvPr/>
        </p:nvSpPr>
        <p:spPr>
          <a:xfrm>
            <a:off x="609480" y="4114800"/>
            <a:ext cx="628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50" spc="-1" strike="noStrike">
                <a:solidFill>
                  <a:srgbClr val="0e0e0e"/>
                </a:solidFill>
                <a:latin typeface="PT Mono"/>
              </a:rPr>
              <a:t>demo/confidential-plant/</a:t>
            </a:r>
            <a:r>
              <a:rPr b="1" lang="en-US" sz="1650" spc="-1" strike="noStrike">
                <a:solidFill>
                  <a:srgbClr val="0b3d91"/>
                </a:solidFill>
                <a:latin typeface="PT Mono"/>
              </a:rPr>
              <a:t>  confidential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Box 15"/>
          <p:cNvSpPr/>
          <p:nvPr/>
        </p:nvSpPr>
        <p:spPr>
          <a:xfrm>
            <a:off x="609480" y="4438800"/>
            <a:ext cx="628632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5a5a5a"/>
                </a:solidFill>
                <a:latin typeface="PT Serif"/>
              </a:rPr>
              <a:t>the derived fingerprints the audit produced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16"/>
          <p:cNvSpPr/>
          <p:nvPr/>
        </p:nvSpPr>
        <p:spPr>
          <a:xfrm>
            <a:off x="7734240" y="4114800"/>
            <a:ext cx="384768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50" spc="-1" strike="noStrike">
                <a:solidFill>
                  <a:srgbClr val="0e0e0e"/>
                </a:solidFill>
                <a:latin typeface="PT Mono"/>
              </a:rPr>
              <a:t>mistral, verda, lemonade, ollama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17"/>
          <p:cNvSpPr/>
          <p:nvPr/>
        </p:nvSpPr>
        <p:spPr>
          <a:xfrm>
            <a:off x="7734240" y="4400640"/>
            <a:ext cx="384768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30" spc="-1" strike="noStrike">
                <a:solidFill>
                  <a:srgbClr val="5a5a5a"/>
                </a:solidFill>
                <a:latin typeface="PT Serif"/>
              </a:rPr>
              <a:t>the Finnish endpoint may, Google may not</a:t>
            </a:r>
            <a:endParaRPr b="0" lang="en-US" sz="14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Rectangle 18"/>
          <p:cNvSpPr/>
          <p:nvPr/>
        </p:nvSpPr>
        <p:spPr>
          <a:xfrm>
            <a:off x="609480" y="5524560"/>
            <a:ext cx="10972440" cy="9000"/>
          </a:xfrm>
          <a:prstGeom prst="rect">
            <a:avLst/>
          </a:prstGeom>
          <a:solidFill>
            <a:srgbClr val="d8d8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TextBox 19"/>
          <p:cNvSpPr/>
          <p:nvPr/>
        </p:nvSpPr>
        <p:spPr>
          <a:xfrm>
            <a:off x="609480" y="5867280"/>
            <a:ext cx="1097244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b="0" lang="en-US" sz="1729" spc="-1" strike="noStrike">
                <a:solidFill>
                  <a:srgbClr val="0e0e0e"/>
                </a:solidFill>
                <a:latin typeface="PT Serif"/>
              </a:rPr>
              <a:t>Raw rows never leave this machine. Data minimization is two labels on two folders, not a sentence in a prompt.</a:t>
            </a:r>
            <a:endParaRPr b="0" lang="en-US" sz="1729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686160" y="27432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6600" spc="-1" strike="noStrike">
                <a:solidFill>
                  <a:schemeClr val="dk1"/>
                </a:solidFill>
                <a:latin typeface="Accanthis ADF Std"/>
              </a:rPr>
              <a:t>Demo</a:t>
            </a:r>
            <a:endParaRPr b="0" lang="en-US" sz="6600" spc="-1" strike="noStrike">
              <a:solidFill>
                <a:schemeClr val="dk1"/>
              </a:solidFill>
              <a:latin typeface="Accanthis ADF Std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2026-09-20T10:49:38Z</dcterms:modified>
  <cp:revision>10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