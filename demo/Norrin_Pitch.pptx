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1276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Ask an agent about the plant, and the plant leaves the 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5755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THE AGENT READS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543300"/>
            <a:ext cx="50673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771900"/>
            <a:ext cx="5067300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>sensordata/unit_01.csv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0">
                <a:solidFill>
                  <a:srgbClr val="8C8C8C"/>
                </a:solidFill>
                <a:latin typeface="PT Mono"/>
              </a:rPr>
              <a:t>...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8C8C8C"/>
                </a:solidFill>
                <a:latin typeface="PT Mono"/>
              </a:rPr>
              <a:t/>
            </a:r>
            <a:r>
              <a:rPr sz="1650" b="0">
                <a:solidFill>
                  <a:srgbClr val="5A5A5A"/>
                </a:solidFill>
                <a:latin typeface="PT Mono"/>
              </a:rPr>
              <a:t>sensordata/unit_18.csv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1">
                <a:solidFill>
                  <a:srgbClr val="0E0E0E"/>
                </a:solidFill>
                <a:latin typeface="PT Mono"/>
              </a:rPr>
              <a:t>tag_01 .. tag_52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325755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IT GIVES AWAY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5100" y="3543300"/>
            <a:ext cx="50673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0" y="3771900"/>
            <a:ext cx="5067300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950" b="0">
                <a:solidFill>
                  <a:srgbClr val="0E0E0E"/>
                </a:solidFill>
                <a:latin typeface="PT Serif"/>
              </a:rPr>
              <a:t>Throughput.</a:t>
            </a:r>
          </a:p>
          <a:p>
            <a:pPr>
              <a:lnSpc>
                <a:spcPct val="145000"/>
              </a:lnSpc>
            </a:pPr>
            <a:r>
              <a:rPr sz="1950" b="0">
                <a:solidFill>
                  <a:srgbClr val="0E0E0E"/>
                </a:solidFill>
                <a:latin typeface="PT Serif"/>
              </a:rPr>
              <a:t>Recipe.</a:t>
            </a:r>
          </a:p>
          <a:p>
            <a:pPr>
              <a:lnSpc>
                <a:spcPct val="145000"/>
              </a:lnSpc>
            </a:pPr>
            <a:r>
              <a:rPr sz="1950" b="0">
                <a:solidFill>
                  <a:srgbClr val="0E0E0E"/>
                </a:solidFill>
                <a:latin typeface="PT Serif"/>
              </a:rPr>
              <a:t>Efficiency.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For a plant the country cannot do without, that is a defence risk, not an IT policy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rows go wherever the model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5265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OPERATOR'S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9700" y="215265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15265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OUTSIDE THE EU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4384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438400"/>
            <a:ext cx="9525" cy="2895600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2438400"/>
            <a:ext cx="9525" cy="2895600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667000"/>
            <a:ext cx="4191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5A5A5A"/>
                </a:solidFill>
                <a:latin typeface="PT Mono"/>
              </a:rPr>
              <a:t>&gt; what is wrong with unit_06?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14725"/>
            <a:ext cx="10820400" cy="571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19125" y="3476625"/>
            <a:ext cx="133350" cy="13335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9525" y="3476625"/>
            <a:ext cx="133350" cy="13335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3752850"/>
            <a:ext cx="41910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sensordata/unit_06.csv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4095750"/>
            <a:ext cx="4191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Mono"/>
              </a:rPr>
              <a:t>810 samples x 52 tags, raw</a:t>
            </a:r>
          </a:p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Mono"/>
              </a:rPr>
              <a:t>316 KB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52850"/>
            <a:ext cx="31242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google </a:t>
            </a:r>
            <a:r>
              <a:rPr sz="1650" b="0">
                <a:solidFill>
                  <a:srgbClr val="00703C"/>
                </a:solidFill>
                <a:latin typeface="PT Mono"/>
              </a:rPr>
              <a:t>[public]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095750"/>
            <a:ext cx="31242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No record of what left, to which model, or why.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Nothing on this path asked whether it should happen, and nothing wrote down that it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WITH THE BROKER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label decides how far anything goes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5265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OPERATOR'S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9700" y="215265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15265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OUTSIDE THE EU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4384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438400"/>
            <a:ext cx="9525" cy="2895600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2438400"/>
            <a:ext cx="9525" cy="2895600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667000"/>
            <a:ext cx="4191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5A5A5A"/>
                </a:solidFill>
                <a:latin typeface="PT Mono"/>
              </a:rPr>
              <a:t>&gt; what is wrong with unit_06?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209925"/>
            <a:ext cx="2171700" cy="571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19125" y="3171825"/>
            <a:ext cx="133350" cy="13335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90825" y="3171825"/>
            <a:ext cx="133350" cy="13335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3448050"/>
            <a:ext cx="43434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restricted-plant/</a:t>
            </a:r>
            <a:r>
              <a:rPr sz="1650" b="1">
                <a:solidFill>
                  <a:srgbClr val="C8102E"/>
                </a:solidFill>
                <a:latin typeface="PT Mono"/>
              </a:rPr>
              <a:t>  restricted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790950"/>
            <a:ext cx="43434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lemonade, ollama</a:t>
            </a:r>
            <a:r>
              <a:rPr sz="1425" b="0">
                <a:solidFill>
                  <a:srgbClr val="5A5A5A"/>
                </a:solidFill>
                <a:latin typeface="PT Serif"/>
              </a:rPr>
              <a:t>   the raw rows stay here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52925"/>
            <a:ext cx="5981700" cy="5715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125" y="4314825"/>
            <a:ext cx="133350" cy="133350"/>
          </a:xfrm>
          <a:prstGeom prst="ellipse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0825" y="4314825"/>
            <a:ext cx="133350" cy="133350"/>
          </a:xfrm>
          <a:prstGeom prst="ellipse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4591050"/>
            <a:ext cx="43434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confidential-plant/reports/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933950"/>
            <a:ext cx="43434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B3D91"/>
                </a:solidFill>
                <a:latin typeface="PT Mono"/>
              </a:rPr>
              <a:t>confidential</a:t>
            </a:r>
            <a:r>
              <a:rPr sz="1425" b="0">
                <a:solidFill>
                  <a:srgbClr val="5A5A5A"/>
                </a:solidFill>
                <a:latin typeface="PT Serif"/>
              </a:rPr>
              <a:t>   8.6 KB of statistics, no rows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4591050"/>
            <a:ext cx="30480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verda </a:t>
            </a:r>
            <a:r>
              <a:rPr sz="1650" b="0">
                <a:solidFill>
                  <a:srgbClr val="0B3D91"/>
                </a:solidFill>
                <a:latin typeface="PT Mono"/>
              </a:rPr>
              <a:t>[confidential] </a:t>
            </a:r>
            <a:r>
              <a:rPr sz="1650" b="0">
                <a:solidFill>
                  <a:srgbClr val="00703C"/>
                </a:solidFill>
                <a:latin typeface="PT Mono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200400"/>
            <a:ext cx="31242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E0E0E"/>
                </a:solidFill>
                <a:latin typeface="PT Mono"/>
              </a:rPr>
              <a:t>google </a:t>
            </a:r>
            <a:r>
              <a:rPr sz="1350" b="0">
                <a:solidFill>
                  <a:srgbClr val="00703C"/>
                </a:solidFill>
                <a:latin typeface="PT Mono"/>
              </a:rPr>
              <a:t>[public]</a:t>
            </a:r>
            <a:r>
              <a:rPr sz="1350" b="0">
                <a:solidFill>
                  <a:srgbClr val="C8102E"/>
                </a:solidFill>
                <a:latin typeface="PT Mono"/>
              </a:rPr>
              <a:t> ✗ no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524250"/>
            <a:ext cx="31242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Not the rows, not the statistics, not a file listing.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Raw rows never leave the machine. Derived statistics stop in the EU. The question still gets answered.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folder decides which model sees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5265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The broker compares the folder's label with the provider's clearance, on every tool call.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14675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demo/restricted-plant/</a:t>
            </a:r>
            <a:r>
              <a:rPr sz="1650" b="1">
                <a:solidFill>
                  <a:srgbClr val="C8102E"/>
                </a:solidFill>
                <a:latin typeface="PT Mono"/>
              </a:rPr>
              <a:t>  restricted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438525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raw rows: 18 recordings, 52 tags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4300" y="3114675"/>
            <a:ext cx="384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lemonade, ollama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4300" y="3400425"/>
            <a:ext cx="38481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no cloud model, not even the EU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6715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114800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demo/confidential-plant/</a:t>
            </a:r>
            <a:r>
              <a:rPr sz="1650" b="1">
                <a:solidFill>
                  <a:srgbClr val="0B3D91"/>
                </a:solidFill>
                <a:latin typeface="PT Mono"/>
              </a:rPr>
              <a:t>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438650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derived fingerprints the audit produced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4300" y="4114800"/>
            <a:ext cx="384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mistral, verda, lemonade,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4300" y="4400550"/>
            <a:ext cx="38481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the Finnish endpoint may, Google may not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Raw rows never leave this machine. Data minimization is two labels on two folders, not a sentence in a prompt.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Same sensor data. Three providers.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8250" y="2476500"/>
            <a:ext cx="103441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google asks for a file listing, and gets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44805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3524250"/>
            <a:ext cx="103441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the handover note tries again, and fails three times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958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8250" y="4572000"/>
            <a:ext cx="103441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verda answers the audit question, from derived reports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broker did not make the agent useless. It made it accountable.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How you can tell, without trusting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5265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This line sits under the prompt for the whole session and changes as the state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667000"/>
            <a:ext cx="10972800" cy="552450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2895600"/>
            <a:ext cx="10515600" cy="95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C8102E"/>
                </a:solidFill>
                <a:latin typeface="PT Mono"/>
              </a:rPr>
              <a:t>● </a:t>
            </a:r>
            <a:r>
              <a:rPr sz="1125" b="0">
                <a:solidFill>
                  <a:srgbClr val="0E0E0E"/>
                </a:solidFill>
                <a:latin typeface="PT Mono"/>
              </a:rPr>
              <a:t>confidential-plant </a:t>
            </a:r>
            <a:r>
              <a:rPr sz="1125" b="0">
                <a:solidFill>
                  <a:srgbClr val="0B3D91"/>
                </a:solidFill>
                <a:latin typeface="PT Mono"/>
              </a:rPr>
              <a:t>[confidential]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google </a:t>
            </a:r>
            <a:r>
              <a:rPr sz="1125" b="0">
                <a:solidFill>
                  <a:srgbClr val="00703C"/>
                </a:solidFill>
                <a:latin typeface="PT Mono"/>
              </a:rPr>
              <a:t>[public]</a:t>
            </a:r>
            <a:r>
              <a:rPr sz="1125" b="0">
                <a:solidFill>
                  <a:srgbClr val="C8102E"/>
                </a:solidFill>
                <a:latin typeface="PT Mono"/>
              </a:rPr>
              <a:t> ✗ no access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session </a:t>
            </a:r>
            <a:r>
              <a:rPr sz="1125" b="0">
                <a:solidFill>
                  <a:srgbClr val="0B3D91"/>
                </a:solidFill>
                <a:latin typeface="PT Mono"/>
              </a:rPr>
              <a:t>confidential</a:t>
            </a:r>
            <a:r>
              <a:rPr sz="1125" b="0">
                <a:solidFill>
                  <a:srgbClr val="C8102E"/>
                </a:solidFill>
                <a:latin typeface="PT Mono"/>
              </a:rPr>
              <a:t> ⛔ messages withheld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5433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IT FAILS CLOSED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829050"/>
            <a:ext cx="50673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057650"/>
            <a:ext cx="50673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No folder, no policy, no known provider: every file tool refuses, and names the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5100" y="35433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BASH IS CONTAINED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15100" y="3829050"/>
            <a:ext cx="50673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5100" y="4057650"/>
            <a:ext cx="50673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It runs only in the container, where the workspace is the only writable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A guardrail, not a sandbox: the container is the real boundary, and a clearance is declared, not verified.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29375"/>
            <a:ext cx="1219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109728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3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Who built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971800"/>
            <a:ext cx="30956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314700"/>
            <a:ext cx="30956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Andreas Bogossian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33800"/>
            <a:ext cx="309562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launcher and its container, the policy tests, and this pitch.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43425" y="2971800"/>
            <a:ext cx="30956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3425" y="3314700"/>
            <a:ext cx="30956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Matias Häkkinen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3425" y="3733800"/>
            <a:ext cx="309562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broker extension: the label check, the provider and workspace commands.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77250" y="2971800"/>
            <a:ext cx="30956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7250" y="3314700"/>
            <a:ext cx="30956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Tomi Hirviniemi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0" y="3733800"/>
            <a:ext cx="309562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sensor audit: the analysis skills, the reports, the Verda endpoint.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524500"/>
            <a:ext cx="109728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109728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5A5A5A"/>
                </a:solidFill>
                <a:latin typeface="PT Serif"/>
              </a:rPr>
              <a:t>AaltoAI 2026, Data Sovereignty and Responsible AI, for Norrin.   </a:t>
            </a:r>
            <a:r>
              <a:rPr sz="1425" b="0">
                <a:solidFill>
                  <a:srgbClr val="0E0E0E"/>
                </a:solidFill>
                <a:latin typeface="PT Mono"/>
              </a:rPr>
              <a:t>github.com/AJBogo9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