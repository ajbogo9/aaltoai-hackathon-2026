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7" r:id="rId11"/>
    <p:sldMasterId id="2147483669" r:id="rId12"/>
  </p:sldMasterIdLst>
  <p:sldIdLst>
    <p:sldId id="256" r:id="rId13"/>
    <p:sldId id="257" r:id="rId14"/>
    <p:sldId id="258" r:id="rId15"/>
    <p:sldId id="259" r:id="rId16"/>
    <p:sldId id="260" r:id="rId17"/>
    <p:sldId id="261" r:id="rId1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EBEAC4-44C7-45CD-8EEE-754DB91E01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C44128-C2BA-4F0F-BDA4-A0E42FD5CC6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086825C-2592-4376-9B28-8D3E0F5362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BF25EEA-0F3A-4D29-BAEB-A15705F9F9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FA98DA9-4D2C-458E-BD81-771AAF32ED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2731C79-0442-4FB7-8B2D-685BA039FF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2693D75-A961-4033-B9D6-3FC5A2A83B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55E5B33-2E8F-42D9-A49F-BA4184894F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3B9BD2B-EA1D-41BD-9311-6F60097CCE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B2928BF-2ED0-4062-BBD0-A34EEC98A0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D5EFF5D2-6AA5-4FF7-AE1A-D14C00D689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7748DF7-C541-4CD0-A9B0-E6B01AC2B5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1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AF7F657-AA9E-4552-9B86-0F9DF74996F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9257CF-3D03-4431-B0E6-E3D562F910F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BED5C3C-28D3-41E8-A65B-A8A06B8CAE0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4F3268-525F-4842-9B88-DD689994090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EEBECD-1B4D-405E-96A1-7C256051483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F00DFA-AB67-4090-B756-364C85D8754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C3EDA6D-38BF-4260-91E5-65ECB0F5CB6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AB5290-4442-4BB4-83D6-7A44B5A70D1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F067DC4-5A02-471D-BE1E-00B0C955FE0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  <p:sldLayoutId id="2147483666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5CB308-B6BE-431C-9BC6-391E03BA336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A4BD3C-0471-4530-B571-D0CDF189AE1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What could go wrong?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69" name="" descr=""/>
          <p:cNvPicPr/>
          <p:nvPr/>
        </p:nvPicPr>
        <p:blipFill>
          <a:blip r:embed="rId1"/>
          <a:stretch/>
        </p:blipFill>
        <p:spPr>
          <a:xfrm>
            <a:off x="902160" y="2057400"/>
            <a:ext cx="10070640" cy="395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86160" y="34272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6600" spc="-1" strike="noStrike">
                <a:solidFill>
                  <a:schemeClr val="dk1"/>
                </a:solidFill>
                <a:latin typeface="Accanthis ADF Std"/>
              </a:rPr>
              <a:t>Confidentiality Broker</a:t>
            </a:r>
            <a:endParaRPr b="0" lang="en-US" sz="6600" spc="-1" strike="noStrike">
              <a:solidFill>
                <a:schemeClr val="dk1"/>
              </a:solidFill>
              <a:latin typeface="Accanthis ADF Std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457560" y="18288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800" spc="-1" strike="noStrike">
                <a:solidFill>
                  <a:schemeClr val="dk1"/>
                </a:solidFill>
                <a:latin typeface="Accanthis ADF Std"/>
              </a:rPr>
              <a:t>Introducing:</a:t>
            </a:r>
            <a:endParaRPr b="0" lang="en-US" sz="4800" spc="-1" strike="noStrike">
              <a:solidFill>
                <a:schemeClr val="dk1"/>
              </a:solidFill>
              <a:latin typeface="Accanthis ADF St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bfb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Rectangle 2"/>
          <p:cNvSpPr/>
          <p:nvPr/>
        </p:nvSpPr>
        <p:spPr>
          <a:xfrm>
            <a:off x="0" y="0"/>
            <a:ext cx="12191760" cy="42840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0" y="116640"/>
            <a:ext cx="1219176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80" spc="202" strike="noStrike">
                <a:solidFill>
                  <a:srgbClr val="ffffff"/>
                </a:solidFill>
                <a:latin typeface="PT Sans"/>
              </a:rPr>
              <a:t>RESTRICTED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 4"/>
          <p:cNvSpPr/>
          <p:nvPr/>
        </p:nvSpPr>
        <p:spPr>
          <a:xfrm>
            <a:off x="0" y="6429240"/>
            <a:ext cx="12191760" cy="42840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5"/>
          <p:cNvSpPr/>
          <p:nvPr/>
        </p:nvSpPr>
        <p:spPr>
          <a:xfrm>
            <a:off x="0" y="6545880"/>
            <a:ext cx="1219176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80" spc="202" strike="noStrike">
                <a:solidFill>
                  <a:srgbClr val="ffffff"/>
                </a:solidFill>
                <a:latin typeface="PT Sans"/>
              </a:rPr>
              <a:t>RESTRICTED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6"/>
          <p:cNvSpPr/>
          <p:nvPr/>
        </p:nvSpPr>
        <p:spPr>
          <a:xfrm>
            <a:off x="609480" y="857160"/>
            <a:ext cx="1097244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30" spc="284" strike="noStrike">
                <a:solidFill>
                  <a:srgbClr val="8c8c8c"/>
                </a:solidFill>
                <a:latin typeface="PT Mono"/>
              </a:rPr>
              <a:t>Problem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7"/>
          <p:cNvSpPr/>
          <p:nvPr/>
        </p:nvSpPr>
        <p:spPr>
          <a:xfrm>
            <a:off x="609480" y="1143000"/>
            <a:ext cx="10972440" cy="69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4350" spc="-1" strike="noStrike">
                <a:solidFill>
                  <a:srgbClr val="0e0e0e"/>
                </a:solidFill>
                <a:latin typeface="PT Serif"/>
              </a:rPr>
              <a:t>The data goes wherever the model is</a:t>
            </a:r>
            <a:endParaRPr b="0" lang="en-US" sz="4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8"/>
          <p:cNvSpPr/>
          <p:nvPr/>
        </p:nvSpPr>
        <p:spPr>
          <a:xfrm>
            <a:off x="609480" y="2152800"/>
            <a:ext cx="30477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214" strike="noStrike">
                <a:solidFill>
                  <a:srgbClr val="8c8c8c"/>
                </a:solidFill>
                <a:latin typeface="PT Mono"/>
              </a:rPr>
              <a:t>OPERATOR'S ENVIRONMENT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9"/>
          <p:cNvSpPr/>
          <p:nvPr/>
        </p:nvSpPr>
        <p:spPr>
          <a:xfrm>
            <a:off x="5219640" y="2152800"/>
            <a:ext cx="30477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214" strike="noStrike">
                <a:solidFill>
                  <a:srgbClr val="8c8c8c"/>
                </a:solidFill>
                <a:latin typeface="PT Mono"/>
              </a:rPr>
              <a:t>EU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8458200" y="2152800"/>
            <a:ext cx="30477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214" strike="noStrike">
                <a:solidFill>
                  <a:srgbClr val="8c8c8c"/>
                </a:solidFill>
                <a:latin typeface="PT Mono"/>
              </a:rPr>
              <a:t>OUTSIDE THE EU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ectangle 11"/>
          <p:cNvSpPr/>
          <p:nvPr/>
        </p:nvSpPr>
        <p:spPr>
          <a:xfrm>
            <a:off x="609480" y="2438280"/>
            <a:ext cx="10972440" cy="9000"/>
          </a:xfrm>
          <a:prstGeom prst="rect">
            <a:avLst/>
          </a:prstGeom>
          <a:solidFill>
            <a:srgbClr val="d8d8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Rectangle 12"/>
          <p:cNvSpPr/>
          <p:nvPr/>
        </p:nvSpPr>
        <p:spPr>
          <a:xfrm>
            <a:off x="4991040" y="2438280"/>
            <a:ext cx="9000" cy="2895120"/>
          </a:xfrm>
          <a:prstGeom prst="rect">
            <a:avLst/>
          </a:prstGeom>
          <a:solidFill>
            <a:srgbClr val="d8d8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Rectangle 13"/>
          <p:cNvSpPr/>
          <p:nvPr/>
        </p:nvSpPr>
        <p:spPr>
          <a:xfrm>
            <a:off x="8229600" y="2438280"/>
            <a:ext cx="9000" cy="2895120"/>
          </a:xfrm>
          <a:prstGeom prst="rect">
            <a:avLst/>
          </a:prstGeom>
          <a:solidFill>
            <a:srgbClr val="d8d8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14"/>
          <p:cNvSpPr/>
          <p:nvPr/>
        </p:nvSpPr>
        <p:spPr>
          <a:xfrm>
            <a:off x="609480" y="2666880"/>
            <a:ext cx="41907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5a5a5a"/>
                </a:solidFill>
                <a:latin typeface="PT Mono"/>
              </a:rPr>
              <a:t>&gt; what is wrong with unit_06?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ectangle 15"/>
          <p:cNvSpPr/>
          <p:nvPr/>
        </p:nvSpPr>
        <p:spPr>
          <a:xfrm>
            <a:off x="685800" y="3514680"/>
            <a:ext cx="10820160" cy="5688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2240" bIns="12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Oval 16"/>
          <p:cNvSpPr/>
          <p:nvPr/>
        </p:nvSpPr>
        <p:spPr>
          <a:xfrm>
            <a:off x="619200" y="3476520"/>
            <a:ext cx="132840" cy="13284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Oval 17"/>
          <p:cNvSpPr/>
          <p:nvPr/>
        </p:nvSpPr>
        <p:spPr>
          <a:xfrm>
            <a:off x="11439360" y="3476520"/>
            <a:ext cx="132840" cy="13284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18"/>
          <p:cNvSpPr/>
          <p:nvPr/>
        </p:nvSpPr>
        <p:spPr>
          <a:xfrm>
            <a:off x="609480" y="3753000"/>
            <a:ext cx="419076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50" spc="-1" strike="noStrike">
                <a:solidFill>
                  <a:srgbClr val="0e0e0e"/>
                </a:solidFill>
                <a:latin typeface="PT Mono"/>
              </a:rPr>
              <a:t>sensordata/unit_06.csv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19"/>
          <p:cNvSpPr/>
          <p:nvPr/>
        </p:nvSpPr>
        <p:spPr>
          <a:xfrm>
            <a:off x="609480" y="4095720"/>
            <a:ext cx="4190760" cy="5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40000"/>
              </a:lnSpc>
            </a:pPr>
            <a:r>
              <a:rPr b="0" lang="en-US" sz="1350" spc="-1" strike="noStrike">
                <a:solidFill>
                  <a:srgbClr val="5a5a5a"/>
                </a:solidFill>
                <a:latin typeface="PT Mono"/>
              </a:rPr>
              <a:t>810 samples x 52 tags, raw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40000"/>
              </a:lnSpc>
            </a:pPr>
            <a:r>
              <a:rPr b="0" lang="en-US" sz="1350" spc="-1" strike="noStrike">
                <a:solidFill>
                  <a:srgbClr val="5a5a5a"/>
                </a:solidFill>
                <a:latin typeface="PT Mono"/>
              </a:rPr>
              <a:t>316 KB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20"/>
          <p:cNvSpPr/>
          <p:nvPr/>
        </p:nvSpPr>
        <p:spPr>
          <a:xfrm>
            <a:off x="8458200" y="3753000"/>
            <a:ext cx="31237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50" spc="-1" strike="noStrike">
                <a:solidFill>
                  <a:srgbClr val="0e0e0e"/>
                </a:solidFill>
                <a:latin typeface="PT Mono"/>
              </a:rPr>
              <a:t>google </a:t>
            </a:r>
            <a:r>
              <a:rPr b="0" lang="en-US" sz="1650" spc="-1" strike="noStrike">
                <a:solidFill>
                  <a:srgbClr val="00703c"/>
                </a:solidFill>
                <a:latin typeface="PT Mono"/>
              </a:rPr>
              <a:t>[public]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21"/>
          <p:cNvSpPr/>
          <p:nvPr/>
        </p:nvSpPr>
        <p:spPr>
          <a:xfrm>
            <a:off x="8458200" y="4095720"/>
            <a:ext cx="312372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40000"/>
              </a:lnSpc>
            </a:pPr>
            <a:r>
              <a:rPr b="0" lang="en-US" sz="1430" spc="-1" strike="noStrike">
                <a:solidFill>
                  <a:srgbClr val="5a5a5a"/>
                </a:solidFill>
                <a:latin typeface="PT Serif"/>
              </a:rPr>
              <a:t>No record of what left, to which model, or why.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ectangle 22"/>
          <p:cNvSpPr/>
          <p:nvPr/>
        </p:nvSpPr>
        <p:spPr>
          <a:xfrm>
            <a:off x="609480" y="5524560"/>
            <a:ext cx="10972440" cy="9000"/>
          </a:xfrm>
          <a:prstGeom prst="rect">
            <a:avLst/>
          </a:prstGeom>
          <a:solidFill>
            <a:srgbClr val="d8d8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23"/>
          <p:cNvSpPr/>
          <p:nvPr/>
        </p:nvSpPr>
        <p:spPr>
          <a:xfrm>
            <a:off x="609480" y="5867280"/>
            <a:ext cx="1097244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en-US" sz="1729" spc="-1" strike="noStrike">
                <a:solidFill>
                  <a:srgbClr val="0e0e0e"/>
                </a:solidFill>
                <a:latin typeface="PT Serif"/>
              </a:rPr>
              <a:t>Nothing on this path asked whether it should happen, and nothing wrote down that it did.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bfb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Rectangle 2"/>
          <p:cNvSpPr/>
          <p:nvPr/>
        </p:nvSpPr>
        <p:spPr>
          <a:xfrm>
            <a:off x="0" y="0"/>
            <a:ext cx="12191760" cy="428400"/>
          </a:xfrm>
          <a:prstGeom prst="rect">
            <a:avLst/>
          </a:prstGeom>
          <a:solidFill>
            <a:srgbClr val="0070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0" y="116640"/>
            <a:ext cx="1219176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80" spc="202" strike="noStrike">
                <a:solidFill>
                  <a:srgbClr val="ffffff"/>
                </a:solidFill>
                <a:latin typeface="PT Sans"/>
              </a:rPr>
              <a:t>PUBLIC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ectangle 4"/>
          <p:cNvSpPr/>
          <p:nvPr/>
        </p:nvSpPr>
        <p:spPr>
          <a:xfrm>
            <a:off x="0" y="6429240"/>
            <a:ext cx="12191760" cy="428400"/>
          </a:xfrm>
          <a:prstGeom prst="rect">
            <a:avLst/>
          </a:prstGeom>
          <a:solidFill>
            <a:srgbClr val="0070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5"/>
          <p:cNvSpPr/>
          <p:nvPr/>
        </p:nvSpPr>
        <p:spPr>
          <a:xfrm>
            <a:off x="0" y="6545880"/>
            <a:ext cx="1219176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80" spc="202" strike="noStrike">
                <a:solidFill>
                  <a:srgbClr val="ffffff"/>
                </a:solidFill>
                <a:latin typeface="PT Sans"/>
              </a:rPr>
              <a:t>PUBLIC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6"/>
          <p:cNvSpPr/>
          <p:nvPr/>
        </p:nvSpPr>
        <p:spPr>
          <a:xfrm>
            <a:off x="609480" y="857160"/>
            <a:ext cx="1097244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30" spc="284" strike="noStrike">
                <a:solidFill>
                  <a:srgbClr val="8c8c8c"/>
                </a:solidFill>
                <a:latin typeface="PT Mono"/>
              </a:rPr>
              <a:t>Solution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7"/>
          <p:cNvSpPr/>
          <p:nvPr/>
        </p:nvSpPr>
        <p:spPr>
          <a:xfrm>
            <a:off x="609480" y="1143000"/>
            <a:ext cx="10972440" cy="69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4350" spc="-1" strike="noStrike">
                <a:solidFill>
                  <a:srgbClr val="0e0e0e"/>
                </a:solidFill>
                <a:latin typeface="PT Serif"/>
              </a:rPr>
              <a:t>The label decides how far anything goes</a:t>
            </a:r>
            <a:endParaRPr b="0" lang="en-US" sz="4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8"/>
          <p:cNvSpPr/>
          <p:nvPr/>
        </p:nvSpPr>
        <p:spPr>
          <a:xfrm>
            <a:off x="609480" y="2152800"/>
            <a:ext cx="30477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214" strike="noStrike">
                <a:solidFill>
                  <a:srgbClr val="8c8c8c"/>
                </a:solidFill>
                <a:latin typeface="PT Mono"/>
              </a:rPr>
              <a:t>OPERATOR'S ENVIRONMENT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9"/>
          <p:cNvSpPr/>
          <p:nvPr/>
        </p:nvSpPr>
        <p:spPr>
          <a:xfrm>
            <a:off x="5219640" y="2152800"/>
            <a:ext cx="30477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214" strike="noStrike">
                <a:solidFill>
                  <a:srgbClr val="8c8c8c"/>
                </a:solidFill>
                <a:latin typeface="PT Mono"/>
              </a:rPr>
              <a:t>EU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8458200" y="2152800"/>
            <a:ext cx="30477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214" strike="noStrike">
                <a:solidFill>
                  <a:srgbClr val="8c8c8c"/>
                </a:solidFill>
                <a:latin typeface="PT Mono"/>
              </a:rPr>
              <a:t>OUTSIDE THE EU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ectangle 11"/>
          <p:cNvSpPr/>
          <p:nvPr/>
        </p:nvSpPr>
        <p:spPr>
          <a:xfrm>
            <a:off x="609480" y="2438280"/>
            <a:ext cx="10972440" cy="9000"/>
          </a:xfrm>
          <a:prstGeom prst="rect">
            <a:avLst/>
          </a:prstGeom>
          <a:solidFill>
            <a:srgbClr val="d8d8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Rectangle 12"/>
          <p:cNvSpPr/>
          <p:nvPr/>
        </p:nvSpPr>
        <p:spPr>
          <a:xfrm>
            <a:off x="4991040" y="2438280"/>
            <a:ext cx="9000" cy="2895120"/>
          </a:xfrm>
          <a:prstGeom prst="rect">
            <a:avLst/>
          </a:prstGeom>
          <a:solidFill>
            <a:srgbClr val="d8d8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Rectangle 13"/>
          <p:cNvSpPr/>
          <p:nvPr/>
        </p:nvSpPr>
        <p:spPr>
          <a:xfrm>
            <a:off x="8229600" y="2438280"/>
            <a:ext cx="9000" cy="2895120"/>
          </a:xfrm>
          <a:prstGeom prst="rect">
            <a:avLst/>
          </a:prstGeom>
          <a:solidFill>
            <a:srgbClr val="d8d8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14"/>
          <p:cNvSpPr/>
          <p:nvPr/>
        </p:nvSpPr>
        <p:spPr>
          <a:xfrm>
            <a:off x="609480" y="2666880"/>
            <a:ext cx="41907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5a5a5a"/>
                </a:solidFill>
                <a:latin typeface="PT Mono"/>
              </a:rPr>
              <a:t>&gt; what is wrong with unit_06?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ectangle 15"/>
          <p:cNvSpPr/>
          <p:nvPr/>
        </p:nvSpPr>
        <p:spPr>
          <a:xfrm>
            <a:off x="685800" y="3209760"/>
            <a:ext cx="2171520" cy="5688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2240" bIns="12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Oval 16"/>
          <p:cNvSpPr/>
          <p:nvPr/>
        </p:nvSpPr>
        <p:spPr>
          <a:xfrm>
            <a:off x="619200" y="3171960"/>
            <a:ext cx="132840" cy="13284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Oval 17"/>
          <p:cNvSpPr/>
          <p:nvPr/>
        </p:nvSpPr>
        <p:spPr>
          <a:xfrm>
            <a:off x="2790720" y="3171960"/>
            <a:ext cx="132840" cy="13284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18"/>
          <p:cNvSpPr/>
          <p:nvPr/>
        </p:nvSpPr>
        <p:spPr>
          <a:xfrm>
            <a:off x="609480" y="3448080"/>
            <a:ext cx="434304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50" spc="-1" strike="noStrike">
                <a:solidFill>
                  <a:srgbClr val="0e0e0e"/>
                </a:solidFill>
                <a:latin typeface="PT Mono"/>
              </a:rPr>
              <a:t>restricted-plant/</a:t>
            </a:r>
            <a:r>
              <a:rPr b="1" lang="en-US" sz="1650" spc="-1" strike="noStrike">
                <a:solidFill>
                  <a:srgbClr val="c8102e"/>
                </a:solidFill>
                <a:latin typeface="PT Mono"/>
              </a:rPr>
              <a:t>  restricted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19"/>
          <p:cNvSpPr/>
          <p:nvPr/>
        </p:nvSpPr>
        <p:spPr>
          <a:xfrm>
            <a:off x="609480" y="3790800"/>
            <a:ext cx="434304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0e0e0e"/>
                </a:solidFill>
                <a:latin typeface="PT Mono"/>
              </a:rPr>
              <a:t>lemonade, ollama</a:t>
            </a:r>
            <a:r>
              <a:rPr b="0" lang="en-US" sz="1430" spc="-1" strike="noStrike">
                <a:solidFill>
                  <a:srgbClr val="5a5a5a"/>
                </a:solidFill>
                <a:latin typeface="PT Serif"/>
              </a:rPr>
              <a:t>   the raw rows stay here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ectangle 20"/>
          <p:cNvSpPr/>
          <p:nvPr/>
        </p:nvSpPr>
        <p:spPr>
          <a:xfrm>
            <a:off x="685800" y="4352760"/>
            <a:ext cx="5981400" cy="56880"/>
          </a:xfrm>
          <a:prstGeom prst="rect">
            <a:avLst/>
          </a:prstGeom>
          <a:solidFill>
            <a:srgbClr val="0b3d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2240" bIns="12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Oval 21"/>
          <p:cNvSpPr/>
          <p:nvPr/>
        </p:nvSpPr>
        <p:spPr>
          <a:xfrm>
            <a:off x="619200" y="4314960"/>
            <a:ext cx="132840" cy="132840"/>
          </a:xfrm>
          <a:prstGeom prst="ellipse">
            <a:avLst/>
          </a:prstGeom>
          <a:solidFill>
            <a:srgbClr val="0b3d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Oval 22"/>
          <p:cNvSpPr/>
          <p:nvPr/>
        </p:nvSpPr>
        <p:spPr>
          <a:xfrm>
            <a:off x="6600960" y="4314960"/>
            <a:ext cx="132840" cy="132840"/>
          </a:xfrm>
          <a:prstGeom prst="ellipse">
            <a:avLst/>
          </a:prstGeom>
          <a:solidFill>
            <a:srgbClr val="0b3d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TextBox 23"/>
          <p:cNvSpPr/>
          <p:nvPr/>
        </p:nvSpPr>
        <p:spPr>
          <a:xfrm>
            <a:off x="609480" y="4591080"/>
            <a:ext cx="434304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50" spc="-1" strike="noStrike">
                <a:solidFill>
                  <a:srgbClr val="0e0e0e"/>
                </a:solidFill>
                <a:latin typeface="PT Mono"/>
              </a:rPr>
              <a:t>confidential-plant/reports/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24"/>
          <p:cNvSpPr/>
          <p:nvPr/>
        </p:nvSpPr>
        <p:spPr>
          <a:xfrm>
            <a:off x="609480" y="4933800"/>
            <a:ext cx="434304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0b3d91"/>
                </a:solidFill>
                <a:latin typeface="PT Mono"/>
              </a:rPr>
              <a:t>confidential</a:t>
            </a:r>
            <a:r>
              <a:rPr b="0" lang="en-US" sz="1430" spc="-1" strike="noStrike">
                <a:solidFill>
                  <a:srgbClr val="5a5a5a"/>
                </a:solidFill>
                <a:latin typeface="PT Serif"/>
              </a:rPr>
              <a:t>   8.6 KB of statistics, no rows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25"/>
          <p:cNvSpPr/>
          <p:nvPr/>
        </p:nvSpPr>
        <p:spPr>
          <a:xfrm>
            <a:off x="5219640" y="4591080"/>
            <a:ext cx="304776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50" spc="-1" strike="noStrike">
                <a:solidFill>
                  <a:srgbClr val="0e0e0e"/>
                </a:solidFill>
                <a:latin typeface="PT Mono"/>
              </a:rPr>
              <a:t>verda </a:t>
            </a:r>
            <a:r>
              <a:rPr b="0" lang="en-US" sz="1650" spc="-1" strike="noStrike">
                <a:solidFill>
                  <a:srgbClr val="0b3d91"/>
                </a:solidFill>
                <a:latin typeface="PT Mono"/>
              </a:rPr>
              <a:t>[confidential] </a:t>
            </a:r>
            <a:r>
              <a:rPr b="0" lang="en-US" sz="1650" spc="-1" strike="noStrike">
                <a:solidFill>
                  <a:srgbClr val="00703c"/>
                </a:solidFill>
                <a:latin typeface="PT Mono"/>
              </a:rPr>
              <a:t>✓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26"/>
          <p:cNvSpPr/>
          <p:nvPr/>
        </p:nvSpPr>
        <p:spPr>
          <a:xfrm>
            <a:off x="8458200" y="3200400"/>
            <a:ext cx="312372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0e0e0e"/>
                </a:solidFill>
                <a:latin typeface="PT Mono"/>
              </a:rPr>
              <a:t>google </a:t>
            </a:r>
            <a:r>
              <a:rPr b="0" lang="en-US" sz="1350" spc="-1" strike="noStrike">
                <a:solidFill>
                  <a:srgbClr val="00703c"/>
                </a:solidFill>
                <a:latin typeface="PT Mono"/>
              </a:rPr>
              <a:t>[public]</a:t>
            </a:r>
            <a:r>
              <a:rPr b="0" lang="en-US" sz="1350" spc="-1" strike="noStrike">
                <a:solidFill>
                  <a:srgbClr val="c8102e"/>
                </a:solidFill>
                <a:latin typeface="PT Mono"/>
              </a:rPr>
              <a:t> ✗ no access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27"/>
          <p:cNvSpPr/>
          <p:nvPr/>
        </p:nvSpPr>
        <p:spPr>
          <a:xfrm>
            <a:off x="8458200" y="3524400"/>
            <a:ext cx="312372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40000"/>
              </a:lnSpc>
            </a:pPr>
            <a:r>
              <a:rPr b="0" lang="en-US" sz="1430" spc="-1" strike="noStrike">
                <a:solidFill>
                  <a:srgbClr val="5a5a5a"/>
                </a:solidFill>
                <a:latin typeface="PT Serif"/>
              </a:rPr>
              <a:t>Not the rows, not the statistics, not a file listing.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Rectangle 28"/>
          <p:cNvSpPr/>
          <p:nvPr/>
        </p:nvSpPr>
        <p:spPr>
          <a:xfrm>
            <a:off x="609480" y="5524560"/>
            <a:ext cx="10972440" cy="9000"/>
          </a:xfrm>
          <a:prstGeom prst="rect">
            <a:avLst/>
          </a:prstGeom>
          <a:solidFill>
            <a:srgbClr val="d8d8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29"/>
          <p:cNvSpPr/>
          <p:nvPr/>
        </p:nvSpPr>
        <p:spPr>
          <a:xfrm>
            <a:off x="609480" y="5867280"/>
            <a:ext cx="1097244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en-US" sz="1729" spc="-1" strike="noStrike">
                <a:solidFill>
                  <a:srgbClr val="0e0e0e"/>
                </a:solidFill>
                <a:latin typeface="PT Serif"/>
              </a:rPr>
              <a:t>Raw rows never leave the machine. Derived statistics stop in the EU. The question still gets answered.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bfb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Rectangle 2"/>
          <p:cNvSpPr/>
          <p:nvPr/>
        </p:nvSpPr>
        <p:spPr>
          <a:xfrm>
            <a:off x="0" y="0"/>
            <a:ext cx="12191760" cy="428400"/>
          </a:xfrm>
          <a:prstGeom prst="rect">
            <a:avLst/>
          </a:prstGeom>
          <a:solidFill>
            <a:srgbClr val="0070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3"/>
          <p:cNvSpPr/>
          <p:nvPr/>
        </p:nvSpPr>
        <p:spPr>
          <a:xfrm>
            <a:off x="0" y="116640"/>
            <a:ext cx="1219176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80" spc="202" strike="noStrike">
                <a:solidFill>
                  <a:srgbClr val="ffffff"/>
                </a:solidFill>
                <a:latin typeface="PT Sans"/>
              </a:rPr>
              <a:t>PUBLIC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ectangle 4"/>
          <p:cNvSpPr/>
          <p:nvPr/>
        </p:nvSpPr>
        <p:spPr>
          <a:xfrm>
            <a:off x="0" y="6429240"/>
            <a:ext cx="12191760" cy="428400"/>
          </a:xfrm>
          <a:prstGeom prst="rect">
            <a:avLst/>
          </a:prstGeom>
          <a:solidFill>
            <a:srgbClr val="0070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TextBox 5"/>
          <p:cNvSpPr/>
          <p:nvPr/>
        </p:nvSpPr>
        <p:spPr>
          <a:xfrm>
            <a:off x="0" y="6545880"/>
            <a:ext cx="1219176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80" spc="202" strike="noStrike">
                <a:solidFill>
                  <a:srgbClr val="ffffff"/>
                </a:solidFill>
                <a:latin typeface="PT Sans"/>
              </a:rPr>
              <a:t>PUBLIC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6"/>
          <p:cNvSpPr/>
          <p:nvPr/>
        </p:nvSpPr>
        <p:spPr>
          <a:xfrm>
            <a:off x="609480" y="857160"/>
            <a:ext cx="1097244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30" spc="284" strike="noStrike">
                <a:solidFill>
                  <a:srgbClr val="8c8c8c"/>
                </a:solidFill>
                <a:latin typeface="PT Mono"/>
              </a:rPr>
              <a:t>THE RULE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7"/>
          <p:cNvSpPr/>
          <p:nvPr/>
        </p:nvSpPr>
        <p:spPr>
          <a:xfrm>
            <a:off x="609480" y="1143000"/>
            <a:ext cx="10972440" cy="69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4350" spc="-1" strike="noStrike">
                <a:solidFill>
                  <a:srgbClr val="0e0e0e"/>
                </a:solidFill>
                <a:latin typeface="PT Serif"/>
              </a:rPr>
              <a:t>The folder decides which model sees it</a:t>
            </a:r>
            <a:endParaRPr b="0" lang="en-US" sz="4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8"/>
          <p:cNvSpPr/>
          <p:nvPr/>
        </p:nvSpPr>
        <p:spPr>
          <a:xfrm>
            <a:off x="609480" y="2152800"/>
            <a:ext cx="10972440" cy="3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en-US" sz="1800" spc="-1" strike="noStrike">
                <a:solidFill>
                  <a:srgbClr val="5a5a5a"/>
                </a:solidFill>
                <a:latin typeface="PT Serif"/>
              </a:rPr>
              <a:t>The broker compares the folder's label with the provider's clearance, on every tool call.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9"/>
          <p:cNvSpPr/>
          <p:nvPr/>
        </p:nvSpPr>
        <p:spPr>
          <a:xfrm>
            <a:off x="609480" y="3114720"/>
            <a:ext cx="62863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50" spc="-1" strike="noStrike">
                <a:solidFill>
                  <a:srgbClr val="0e0e0e"/>
                </a:solidFill>
                <a:latin typeface="PT Mono"/>
              </a:rPr>
              <a:t>demo/restricted-plant/</a:t>
            </a:r>
            <a:r>
              <a:rPr b="1" lang="en-US" sz="1650" spc="-1" strike="noStrike">
                <a:solidFill>
                  <a:srgbClr val="c8102e"/>
                </a:solidFill>
                <a:latin typeface="PT Mono"/>
              </a:rPr>
              <a:t>  restricted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10"/>
          <p:cNvSpPr/>
          <p:nvPr/>
        </p:nvSpPr>
        <p:spPr>
          <a:xfrm>
            <a:off x="609480" y="3438360"/>
            <a:ext cx="62863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5a5a5a"/>
                </a:solidFill>
                <a:latin typeface="PT Serif"/>
              </a:rPr>
              <a:t>the raw rows: 18 recordings, 52 tags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11"/>
          <p:cNvSpPr/>
          <p:nvPr/>
        </p:nvSpPr>
        <p:spPr>
          <a:xfrm>
            <a:off x="7734240" y="3114720"/>
            <a:ext cx="38476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0e0e0e"/>
                </a:solidFill>
                <a:latin typeface="PT Mono"/>
              </a:rPr>
              <a:t>lemonade, ollama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12"/>
          <p:cNvSpPr/>
          <p:nvPr/>
        </p:nvSpPr>
        <p:spPr>
          <a:xfrm>
            <a:off x="7734240" y="3400560"/>
            <a:ext cx="384768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30" spc="-1" strike="noStrike">
                <a:solidFill>
                  <a:srgbClr val="5a5a5a"/>
                </a:solidFill>
                <a:latin typeface="PT Serif"/>
              </a:rPr>
              <a:t>no cloud model, not even the EU one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ectangle 13"/>
          <p:cNvSpPr/>
          <p:nvPr/>
        </p:nvSpPr>
        <p:spPr>
          <a:xfrm>
            <a:off x="609480" y="3867120"/>
            <a:ext cx="10972440" cy="9000"/>
          </a:xfrm>
          <a:prstGeom prst="rect">
            <a:avLst/>
          </a:prstGeom>
          <a:solidFill>
            <a:srgbClr val="d8d8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14"/>
          <p:cNvSpPr/>
          <p:nvPr/>
        </p:nvSpPr>
        <p:spPr>
          <a:xfrm>
            <a:off x="609480" y="4114800"/>
            <a:ext cx="62863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50" spc="-1" strike="noStrike">
                <a:solidFill>
                  <a:srgbClr val="0e0e0e"/>
                </a:solidFill>
                <a:latin typeface="PT Mono"/>
              </a:rPr>
              <a:t>demo/confidential-plant/</a:t>
            </a:r>
            <a:r>
              <a:rPr b="1" lang="en-US" sz="1650" spc="-1" strike="noStrike">
                <a:solidFill>
                  <a:srgbClr val="0b3d91"/>
                </a:solidFill>
                <a:latin typeface="PT Mono"/>
              </a:rPr>
              <a:t>  confidential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15"/>
          <p:cNvSpPr/>
          <p:nvPr/>
        </p:nvSpPr>
        <p:spPr>
          <a:xfrm>
            <a:off x="609480" y="4438800"/>
            <a:ext cx="62863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5a5a5a"/>
                </a:solidFill>
                <a:latin typeface="PT Serif"/>
              </a:rPr>
              <a:t>the derived fingerprints the audit produced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16"/>
          <p:cNvSpPr/>
          <p:nvPr/>
        </p:nvSpPr>
        <p:spPr>
          <a:xfrm>
            <a:off x="7734240" y="4114800"/>
            <a:ext cx="38476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0e0e0e"/>
                </a:solidFill>
                <a:latin typeface="PT Mono"/>
              </a:rPr>
              <a:t>mistral, verda, lemonade, ollama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17"/>
          <p:cNvSpPr/>
          <p:nvPr/>
        </p:nvSpPr>
        <p:spPr>
          <a:xfrm>
            <a:off x="7734240" y="4400640"/>
            <a:ext cx="384768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30" spc="-1" strike="noStrike">
                <a:solidFill>
                  <a:srgbClr val="5a5a5a"/>
                </a:solidFill>
                <a:latin typeface="PT Serif"/>
              </a:rPr>
              <a:t>the Finnish endpoint may, Google may not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ectangle 18"/>
          <p:cNvSpPr/>
          <p:nvPr/>
        </p:nvSpPr>
        <p:spPr>
          <a:xfrm>
            <a:off x="609480" y="5524560"/>
            <a:ext cx="10972440" cy="9000"/>
          </a:xfrm>
          <a:prstGeom prst="rect">
            <a:avLst/>
          </a:prstGeom>
          <a:solidFill>
            <a:srgbClr val="d8d8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TextBox 19"/>
          <p:cNvSpPr/>
          <p:nvPr/>
        </p:nvSpPr>
        <p:spPr>
          <a:xfrm>
            <a:off x="609480" y="5867280"/>
            <a:ext cx="1097244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en-US" sz="1729" spc="-1" strike="noStrike">
                <a:solidFill>
                  <a:srgbClr val="0e0e0e"/>
                </a:solidFill>
                <a:latin typeface="PT Serif"/>
              </a:rPr>
              <a:t>Raw rows never leave this machine. Data minimization is two labels on two folders, not a sentence in a prompt.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86160" y="27432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6600" spc="-1" strike="noStrike">
                <a:solidFill>
                  <a:schemeClr val="dk1"/>
                </a:solidFill>
                <a:latin typeface="Accanthis ADF Std"/>
              </a:rPr>
              <a:t>Demo</a:t>
            </a:r>
            <a:endParaRPr b="0" lang="en-US" sz="6600" spc="-1" strike="noStrike">
              <a:solidFill>
                <a:schemeClr val="dk1"/>
              </a:solidFill>
              <a:latin typeface="Accanthis ADF St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2026-09-20T10:51:48Z</dcterms:modified>
  <cp:revision>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